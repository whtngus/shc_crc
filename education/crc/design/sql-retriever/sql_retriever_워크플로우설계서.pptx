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 검색기 워크플로우 설계서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766560" y="2011680"/>
            <a:ext cx="1097280" cy="1097280"/>
          </a:xfrm>
          <a:prstGeom prst="roundRect">
            <a:avLst>
              <a:gd name="adj" fmla="val 4167"/>
            </a:avLst>
          </a:prstGeom>
          <a:solidFill>
            <a:srgbClr val="1E2A5C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0" y="20116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W-1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9321" y="3246120"/>
            <a:ext cx="1362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 검색기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011680" y="4114800"/>
            <a:ext cx="10607040" cy="1188720"/>
          </a:xfrm>
          <a:prstGeom prst="roundRect">
            <a:avLst>
              <a:gd name="adj" fmla="val 7692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41148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상담사 질문을 정형쿼리 또는 NL2SQL로 바꿔 카드 회원 DB에서 안전하게 답을 찾는 동기 요청 워크플로우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76072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5760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3조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06640" y="576072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5760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작성일 2026-10-19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개요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상담사가 기다리는 30초 안에, 허용된 뷰만 읽기 전용으로 조회하는 검색기를 설계함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</p:sp>
      <p:sp>
        <p:nvSpPr>
          <p:cNvPr id="5" name="Text 3"/>
          <p:cNvSpPr/>
          <p:nvPr/>
        </p:nvSpPr>
        <p:spPr>
          <a:xfrm>
            <a:off x="509321" y="17373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대상과 범위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9321" y="2286000"/>
            <a:ext cx="6949440" cy="4937760"/>
          </a:xfrm>
          <a:prstGeom prst="roundRect">
            <a:avLst>
              <a:gd name="adj" fmla="val 1852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6481" y="2377440"/>
            <a:ext cx="667512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대상 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W-1 SQL 검색기(질문 → 정형쿼리 또는 NL2SQL → 결과 행 반환)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유저스토리 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없음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 트리거 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동기 요청(호출자가 검색을 요청하고 응답을 기다림) → 단계ID 접두어 S-R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범위 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 검증, 경로 판단, 계획 판정, SQL 검증, SQL 실행, 응답 반환, Groq LLM 커넥터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범위 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 문장 작성(호출자 몫), 뷰와 RLS 변경, 화면, 배포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취급 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내부 구성요소(사용자 결정). 외부시스템 연동과 커넥터 목록에서 제외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33081" y="1737360"/>
            <a:ext cx="640080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</p:sp>
      <p:sp>
        <p:nvSpPr>
          <p:cNvPr id="9" name="Text 7"/>
          <p:cNvSpPr/>
          <p:nvPr/>
        </p:nvSpPr>
        <p:spPr>
          <a:xfrm>
            <a:off x="7733081" y="1737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결정값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778801" y="242316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11" name="Text 9"/>
          <p:cNvSpPr/>
          <p:nvPr/>
        </p:nvSpPr>
        <p:spPr>
          <a:xfrm>
            <a:off x="7778801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81721" y="2377440"/>
            <a:ext cx="5806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시간 예산 30초, 종료 처리 시간 1초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78801" y="339242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8801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81721" y="3346704"/>
            <a:ext cx="5806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LLM: Groq openai/gpt-oss-120b, 타임아웃 12초, 재시도 0회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78801" y="436168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8801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81721" y="4315968"/>
            <a:ext cx="5806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 검증 실패 시 다시 만들기 1회(반복 구간 L-1)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778801" y="533095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20" name="Text 18"/>
          <p:cNvSpPr/>
          <p:nvPr/>
        </p:nvSpPr>
        <p:spPr>
          <a:xfrm>
            <a:off x="7778801" y="5330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81721" y="5285232"/>
            <a:ext cx="5806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계정 sql_retriever_user, 허용 뷰 12개, 결과 행 상한 200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778801" y="630021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8801" y="6300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81721" y="6254496"/>
            <a:ext cx="5806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필드 표기: 이름(타입, 필수 여부, 설명). 타입은 str, int, bool, date, list, obj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개요: 처음 보는 분을 위한 용어 풀이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NL2SQL을 처음 접하는 검토자도 이 설계서를 읽을 수 있도록 용어를 한 줄씩 풀이함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96926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73152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용어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 줄 풀이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NL2SQL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사람의 말(자연어) 질문을 LLM이 SQL로 바꾸는 방식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정형쿼리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자주 묻는 조회를 미리 만들어 검증해 둔 고정 SQL. LLM은 ID만 고름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뷰(View)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원본 테이블에서 필요한 컬럼과 기간만 골라 보여 주는 가상 테이블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행 수준 보안(RLS)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같은 테이블이라도 세션에 지정한 회원의 행만 보이게 하는 DB 규칙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세션 변수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 트랜잭션 동안만 DB에 알려 주는 값. 여기서는 회원ID, 기준일, 거래 제공 시작일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최악값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 연동이 가장 오래 걸릴 때의 시간. 타임아웃 × (1 + 재시도 횟수)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남은 시간 예산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단계를 시작하기 전에 앞으로 쓸 수 있는 시간을 다시 재는 값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착지 단계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시간이나 재시도를 다 썼을 때 이어서 가는 안전한 단계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476281" y="1737360"/>
            <a:ext cx="3657600" cy="5120640"/>
          </a:xfrm>
          <a:prstGeom prst="roundRect">
            <a:avLst>
              <a:gd name="adj" fmla="val 250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659161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순서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750601" y="2377440"/>
            <a:ext cx="3200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흐름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단계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연동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반복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합계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커넥터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실행 중 시간 관리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설계 가이드의 작성 순서 ① ~ ⑥에 커넥터 설계와 부록을 더해 구성함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4358640" cy="5303520"/>
          </a:xfrm>
          <a:prstGeom prst="roundRect">
            <a:avLst>
              <a:gd name="adj" fmla="val 2098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7921" y="192024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2E74C6"/>
          </a:solidFill>
          <a:ln/>
        </p:spPr>
      </p:sp>
      <p:sp>
        <p:nvSpPr>
          <p:cNvPr id="6" name="Text 4"/>
          <p:cNvSpPr/>
          <p:nvPr/>
        </p:nvSpPr>
        <p:spPr>
          <a:xfrm>
            <a:off x="737921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8001" y="1920240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7921" y="2651760"/>
            <a:ext cx="390144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단계 도출 및 순서 정의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목록, 흐름 도식, Mermaid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단계별 명세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S-R1 ~ S-R6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142281" y="1737360"/>
            <a:ext cx="4358640" cy="5303520"/>
          </a:xfrm>
          <a:prstGeom prst="roundRect">
            <a:avLst>
              <a:gd name="adj" fmla="val 2098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70881" y="192024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2E74C6"/>
          </a:solidFill>
          <a:ln/>
        </p:spPr>
      </p:sp>
      <p:sp>
        <p:nvSpPr>
          <p:cNvPr id="11" name="Text 9"/>
          <p:cNvSpPr/>
          <p:nvPr/>
        </p:nvSpPr>
        <p:spPr>
          <a:xfrm>
            <a:off x="5370881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10961" y="1920240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370881" y="2651760"/>
            <a:ext cx="390144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외부시스템 연동 명세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반복 구간 명세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워크플로우 명세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남은 시간 예산 정책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775241" y="1737360"/>
            <a:ext cx="4358640" cy="5303520"/>
          </a:xfrm>
          <a:prstGeom prst="roundRect">
            <a:avLst>
              <a:gd name="adj" fmla="val 2098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03841" y="192024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2E74C6"/>
          </a:solidFill>
          <a:ln/>
        </p:spPr>
      </p:sp>
      <p:sp>
        <p:nvSpPr>
          <p:cNvPr id="16" name="Text 14"/>
          <p:cNvSpPr/>
          <p:nvPr/>
        </p:nvSpPr>
        <p:spPr>
          <a:xfrm>
            <a:off x="10003841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643921" y="1920240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연결과 부록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003841" y="2651760"/>
            <a:ext cx="390144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커넥터 설계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목록, LLM 명세, 프롬프트, 응답 구조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부록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뷰와 정형쿼리, SQL 검증 규칙, 필드 영문명, 오류 응답, 설계 점검표, 설계 가정과 위험 항목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단계 도출 및 순서 정의: 단계 목록과 흐름 유형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입력 워크플로우의 6단계를 그대로 쓰고, 분기 2곳과 반복 1곳을 둠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404155"/>
          </a:solidFill>
          <a:ln/>
        </p:spPr>
      </p:sp>
      <p:sp>
        <p:nvSpPr>
          <p:cNvPr id="5" name="Text 3"/>
          <p:cNvSpPr/>
          <p:nvPr/>
        </p:nvSpPr>
        <p:spPr>
          <a:xfrm>
            <a:off x="509321" y="1737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목록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2194560"/>
          <a:ext cx="58521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651760"/>
                <a:gridCol w="22860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단계ID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단계명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담당자 유형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S-R1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검색 요청 접수와 검증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규칙기반 코드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S-R2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정형쿼리 또는 NL2SQL 판단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생성형AI + 규칙기반 코드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S-R3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계획 적합성 판정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규칙기반 코드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S-R4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SQL 검증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규칙기반 코드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S-R5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SQL 실행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규칙기반 코드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S-R6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응답 구성과 반환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규칙기반 코드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635801" y="173736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404155"/>
          </a:solidFill>
          <a:ln/>
        </p:spPr>
      </p:sp>
      <p:sp>
        <p:nvSpPr>
          <p:cNvPr id="8" name="Text 5"/>
          <p:cNvSpPr/>
          <p:nvPr/>
        </p:nvSpPr>
        <p:spPr>
          <a:xfrm>
            <a:off x="6635801" y="1737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 유형</a:t>
            </a:r>
            <a:endParaRPr lang="en-US" sz="15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35801" y="2194560"/>
          <a:ext cx="74980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743200"/>
                <a:gridCol w="3657600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흐름 유형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위치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판단 이유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순차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S-R1 → S-R2 → S-R3 → S-R4 → S-R5 → S-R6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앞 단계 출력이 뒤 단계 입력임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분기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S-R3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계획이 "답할 수 없음"이면 SQL 없이 S-R6로 감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분기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S-R4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통과는 S-R5, 실패는 다시 만들기 또는 오류 종료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반복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L-1(S-R2 ~ S-R4)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검증 실패 사유를 주고 SQL을 1회 다시 만듦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병렬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모든 단계가 바로 앞 단계 출력을 써서 동시에 돌릴 단계가 없음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단계 도출 및 순서 정의: 흐름 도식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LLM은 경로 판단 한 곳에서만 쓰고, SQL은 검증을 통과해야만 DB로 감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64792"/>
            <a:ext cx="411480" cy="292608"/>
          </a:xfrm>
          <a:prstGeom prst="rect">
            <a:avLst/>
          </a:prstGeom>
          <a:solidFill>
            <a:srgbClr val="2E74C6"/>
          </a:solidFill>
          <a:ln w="15875">
            <a:solidFill>
              <a:srgbClr val="2E74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4809" y="1737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단계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9601" y="1764792"/>
            <a:ext cx="411480" cy="292608"/>
          </a:xfrm>
          <a:prstGeom prst="rect">
            <a:avLst/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25089" y="1737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규칙기반 단계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89881" y="1764792"/>
            <a:ext cx="411480" cy="29260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65369" y="1737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판정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230161" y="1764792"/>
            <a:ext cx="411480" cy="292608"/>
          </a:xfrm>
          <a:prstGeom prst="rect">
            <a:avLst/>
          </a:prstGeom>
          <a:solidFill>
            <a:srgbClr val="EEF3FA"/>
          </a:solidFill>
          <a:ln w="38100">
            <a:solidFill>
              <a:srgbClr val="1E2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05649" y="1737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조회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470441" y="1764792"/>
            <a:ext cx="411480" cy="292608"/>
          </a:xfrm>
          <a:prstGeom prst="rect">
            <a:avLst/>
          </a:prstGeom>
          <a:solidFill>
            <a:srgbClr val="404155"/>
          </a:solidFill>
          <a:ln w="15875">
            <a:solidFill>
              <a:srgbClr val="40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45929" y="1737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오류 종료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1710721" y="1911096"/>
            <a:ext cx="548640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dash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2350801" y="17373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반복(L-1)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9321" y="3451860"/>
            <a:ext cx="868680" cy="868680"/>
          </a:xfrm>
          <a:prstGeom prst="ellipse">
            <a:avLst/>
          </a:prstGeom>
          <a:solidFill>
            <a:srgbClr val="1E2A5C"/>
          </a:solidFill>
          <a:ln w="15875">
            <a:solidFill>
              <a:srgbClr val="1E2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1" y="34518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797101" y="3291840"/>
            <a:ext cx="16002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97101" y="329184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S-R1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 접수와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816401" y="3291840"/>
            <a:ext cx="1600200" cy="1188720"/>
          </a:xfrm>
          <a:prstGeom prst="rect">
            <a:avLst/>
          </a:prstGeom>
          <a:solidFill>
            <a:srgbClr val="2E74C6"/>
          </a:solidFill>
          <a:ln w="19050">
            <a:solidFill>
              <a:srgbClr val="2E74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16401" y="329184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S-R2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정형쿼리 또는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NL2SQL 판단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835701" y="3108960"/>
            <a:ext cx="1920240" cy="155448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E2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35701" y="310896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S-R3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 적합성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판정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175041" y="3108960"/>
            <a:ext cx="1920240" cy="155448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E2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75041" y="310896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S-R4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 검증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514381" y="3291840"/>
            <a:ext cx="1600200" cy="1188720"/>
          </a:xfrm>
          <a:prstGeom prst="rect">
            <a:avLst/>
          </a:prstGeom>
          <a:solidFill>
            <a:srgbClr val="EEF3FA"/>
          </a:solidFill>
          <a:ln w="38100">
            <a:solidFill>
              <a:srgbClr val="1E2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4381" y="329184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S-R5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 실행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2533681" y="3291840"/>
            <a:ext cx="16002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533681" y="329184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S-R6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 구성과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반환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378001" y="3886200"/>
            <a:ext cx="419100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397301" y="3886200"/>
            <a:ext cx="419100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416601" y="3886200"/>
            <a:ext cx="419100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755941" y="3886200"/>
            <a:ext cx="419100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7462571" y="34290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대상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0095281" y="3886200"/>
            <a:ext cx="419100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9801911" y="34290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통과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2114581" y="3886200"/>
            <a:ext cx="419100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11821211" y="34290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 flipV="1">
            <a:off x="6795821" y="2606040"/>
            <a:ext cx="0" cy="50292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95821" y="2606040"/>
            <a:ext cx="6537960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333781" y="2606040"/>
            <a:ext cx="0" cy="68580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8418881" y="22768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답할 수 없음(SQL 없이 응답)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9135161" y="4663440"/>
            <a:ext cx="0" cy="457200"/>
          </a:xfrm>
          <a:prstGeom prst="line">
            <a:avLst/>
          </a:prstGeom>
          <a:noFill/>
          <a:ln w="22225">
            <a:solidFill>
              <a:srgbClr val="1E2A5C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 flipH="1">
            <a:off x="4936541" y="5120640"/>
            <a:ext cx="4198620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 flipV="1">
            <a:off x="4936541" y="4480560"/>
            <a:ext cx="0" cy="640080"/>
          </a:xfrm>
          <a:prstGeom prst="line">
            <a:avLst/>
          </a:prstGeom>
          <a:noFill/>
          <a:ln w="22225">
            <a:solidFill>
              <a:srgbClr val="1E2A5C"/>
            </a:solidFill>
            <a:prstDash val="dash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4749851" y="5166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 1회차: 실패 사유를 주고 다시 만듦(L-1)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1797101" y="6172200"/>
            <a:ext cx="10317480" cy="457200"/>
          </a:xfrm>
          <a:prstGeom prst="rect">
            <a:avLst/>
          </a:prstGeom>
          <a:solidFill>
            <a:srgbClr val="404155"/>
          </a:solidFill>
          <a:ln w="12700">
            <a:solidFill>
              <a:srgbClr val="4041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97101" y="6172200"/>
            <a:ext cx="1031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오류 종료(오류 코드와 안내 문구로 응답)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2597201" y="4480560"/>
            <a:ext cx="0" cy="1691640"/>
          </a:xfrm>
          <a:prstGeom prst="line">
            <a:avLst/>
          </a:prstGeom>
          <a:noFill/>
          <a:ln w="22225">
            <a:solidFill>
              <a:srgbClr val="404155"/>
            </a:solidFill>
            <a:prstDash val="solid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2652065" y="57881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 오류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4296461" y="4480560"/>
            <a:ext cx="0" cy="1691640"/>
          </a:xfrm>
          <a:prstGeom prst="line">
            <a:avLst/>
          </a:prstGeom>
          <a:noFill/>
          <a:ln w="22225">
            <a:solidFill>
              <a:srgbClr val="404155"/>
            </a:solidFill>
            <a:prstDash val="solid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4351325" y="57881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실패, 대체 불가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9638081" y="4256314"/>
            <a:ext cx="0" cy="1915886"/>
          </a:xfrm>
          <a:prstGeom prst="line">
            <a:avLst/>
          </a:prstGeom>
          <a:noFill/>
          <a:ln w="22225">
            <a:solidFill>
              <a:srgbClr val="404155"/>
            </a:solidFill>
            <a:prstDash val="solid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9692945" y="57881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 2회차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11314481" y="4480560"/>
            <a:ext cx="0" cy="1691640"/>
          </a:xfrm>
          <a:prstGeom prst="line">
            <a:avLst/>
          </a:prstGeom>
          <a:noFill/>
          <a:ln w="22225">
            <a:solidFill>
              <a:srgbClr val="404155"/>
            </a:solidFill>
            <a:prstDash val="solid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11369345" y="57881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실패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09321" y="6812280"/>
            <a:ext cx="1362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단계는 시작 전에 ⑥ 남은 시간 예산을 확인하고, 기준에 못 미치면 착지 단계로 감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단계 도출 및 순서 정의: Mermaid 도식 스크립트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같은 흐름을 Mermaid 스크립트로도 남겨 누구나 다시 그릴 수 있게 함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509760" cy="5440680"/>
          </a:xfrm>
          <a:prstGeom prst="roundRect">
            <a:avLst>
              <a:gd name="adj" fmla="val 1681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2201" y="1828800"/>
            <a:ext cx="9144000" cy="5257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flowchart LR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T((동기 요청)) --&gt; R1[S-R1 검색 요청 접수와 검증]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R1 --&gt; R2[S-R2 정형쿼리 또는 NL2SQL 판단]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R2 --&gt; R3{S-R3 계획 적합성 판정}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R3 -- 답할 수 없음 --&gt; R6[S-R6 응답 구성과 반환]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R3 -- 검증 대상 --&gt; R4{S-R4 SQL 검증}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R4 -- 통과 --&gt; R5[(S-R5 SQL 실행)]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R4 -. 실패 1회차 L-1 .-&gt; R2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R4 -- 실패 2회차 --&gt; E((오류 종료))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R5 -- 성공 --&gt; R6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R5 -- 실패 --&gt; 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R1 -- 요청 오류 --&gt; 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R2 -- LLM 실패 대체 불가 --&gt; 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293401" y="1737360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</p:sp>
      <p:sp>
        <p:nvSpPr>
          <p:cNvPr id="7" name="Text 5"/>
          <p:cNvSpPr/>
          <p:nvPr/>
        </p:nvSpPr>
        <p:spPr>
          <a:xfrm>
            <a:off x="10293401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보는 방법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384841" y="246888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9" name="Text 7"/>
          <p:cNvSpPr/>
          <p:nvPr/>
        </p:nvSpPr>
        <p:spPr>
          <a:xfrm>
            <a:off x="10384841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887761" y="2395728"/>
            <a:ext cx="32004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mermaid.live/edit 접속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384841" y="338328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12" name="Text 10"/>
          <p:cNvSpPr/>
          <p:nvPr/>
        </p:nvSpPr>
        <p:spPr>
          <a:xfrm>
            <a:off x="10384841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887761" y="3310128"/>
            <a:ext cx="32004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 편집 창에 스크립트 붙여 넣기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384841" y="429768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15" name="Text 13"/>
          <p:cNvSpPr/>
          <p:nvPr/>
        </p:nvSpPr>
        <p:spPr>
          <a:xfrm>
            <a:off x="10384841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887761" y="4224528"/>
            <a:ext cx="32004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오른쪽 위 전체보기 아이콘을 눌러 봄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293401" y="5486400"/>
            <a:ext cx="64008" cy="137160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18" name="Text 16"/>
          <p:cNvSpPr/>
          <p:nvPr/>
        </p:nvSpPr>
        <p:spPr>
          <a:xfrm>
            <a:off x="10430561" y="5486400"/>
            <a:ext cx="370332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 R1 ~ R6은 단계 S-R1 ~ S-R6, 점선은 반복 구간 L-1임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단계별 명세: S-R1 검색 요청 접수와 검증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잘못된 요청과 개인 식별자는 첫 단계에서 걸러, 외부 LLM에 가는 글을 최소로 만듦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2270760"/>
                <a:gridCol w="2270760"/>
                <a:gridCol w="2270760"/>
                <a:gridCol w="2270760"/>
                <a:gridCol w="2270760"/>
                <a:gridCol w="22707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이전 단계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담당자 유형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외부시스템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S-R1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검색 요청 접수와 검증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트리거(동기 요청)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규칙기반 코드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없음(시스템 내부 DB)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비즈니스 목표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형식이 맞고 실제로 있는 회원의 질문만 받아, 개인 식별자를 가린 질문으로 바꿈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29184"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입력 데이터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수행 작업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 데이터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</a:tr>
              <a:tr h="278892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request_id(str, 선택, 호출자 추적 ID)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member_id(str, 필수, 상담 대상 회원ID)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question(str, 필수, 상담사 질문 1 ~ 500자)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base_date(date, 선택, 조회 기준일)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 필수 값과 형식 확인(member_id는 M- + 숫자 4자리)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 읽기 전용 트랜잭션에서 public.lab_metadata의 base_date, txn_period를 읽어 기준일과 거래 제공 시작일 결정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 세션 변수 3개 지정 후 app_internal.member_basic으로 회원과 가입일 확인(statement_timeout ≤ 남은 시간 예산)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 질문의 회원ID, 카드번호, 전화번호, 주민등록번호, 이메일을 규칙(정규식)으로 가림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request_id(str, 필수, 없으면 생성)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member_id(str, 필수, 내부 전용)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masked_question(str, 필수, 가린 질문)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masked_types(list, 필수, 가린 종류)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base_date(date, 필수)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coverage_start(date, 필수, 거래 제공 시작일)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started_at(float, 필수, 시작 시각)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attempt(int, 필수, 1)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329184"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예외 처리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658368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형식 오류 → INVALID_REQUEST(400)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회원 없음 또는 기준일에 가입 전 → MEMBER_NOT_FOUND(404)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DB 접속 실패 → DB_UNAVAILABLE(503)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회원ID는 LLM에 보내지 않고 세션 변수로만 씀. 이름은 정규식으로 못 가려 위험 항목으로 둠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단계별 명세: S-R2 정형쿼리 또는 NL2SQL 판단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LLM을 한 번만 불러 경로와 SQL 초안을 함께 받고, 실패하면 키워드 규칙으로 대신함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2270760"/>
                <a:gridCol w="2270760"/>
                <a:gridCol w="2270760"/>
                <a:gridCol w="2270760"/>
                <a:gridCol w="2270760"/>
                <a:gridCol w="22707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이전 단계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담당자 유형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외부시스템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S-R2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정형쿼리 또는 NL2SQL 판단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S-R1 검색 요청 접수와 검증, S-R4 SQL 검증(검증 실패로 되돌아올 때)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생성형AI + 규칙기반 코드(대체 경로)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Groq LLM(C-01)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비즈니스 목표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질문에 맞는 조회 방법을 골라, 정형쿼리가 없을 때만 LLM이 SQL을 만들게 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29184"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입력 데이터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수행 작업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 데이터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</a:tr>
              <a:tr h="278892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masked_question(str, 필수, S-R1)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base_date, coverage_start(date, 필수, S-R1)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attempt(int, 필수, S-R1 또는 S-R4)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validation_errors(list, 선택, S-R4)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previous_sql(str, 선택, S-R4)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 남은 시간 예산 확인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 프롬프트 조립(정형쿼리 목록, 허용 뷰와 컬럼, 기간, 검증 실패 사유)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 C-01 호출(타임아웃 12초, 재시도 0회, JSON 스키마 엄격 모드)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 응답이 스키마와 맞는지 확인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 호출 실패 시 정형쿼리 키워드 표로 규칙 매칭(대체 경로)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route(str, 필수, fixed 또는 nl2sql 또는 unanswerable)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fixed_query_id(str, 선택)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generated_sql(str, 선택)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used_views(list, 필수)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reason(str, 필수, 판단 근거)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plan_source(str, 필수, llm 또는 keyword_fallback)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attempt(int, 필수)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329184"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예외 처리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658368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 초과, 429, 5xx, 스키마 불일치 → 키워드 매칭. 일치 없음 → LLM_UNAVAILABLE(503)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LLM에는 가린 질문과 뷰 구조만 보냄. 회원ID와 결과 행은 보내지 않음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단계별 명세: S-R3 계획 적합성 판정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LLM이 낸 계획을 그대로 믿지 않고, 경로와 내용이 서로 맞는지 규칙으로 판정함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2270760"/>
                <a:gridCol w="2270760"/>
                <a:gridCol w="2270760"/>
                <a:gridCol w="2270760"/>
                <a:gridCol w="2270760"/>
                <a:gridCol w="22707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이전 단계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담당자 유형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외부시스템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S-R3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계획 적합성 판정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S-R2 정형쿼리 또는 NL2SQL 판단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규칙기반 코드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비즈니스 목표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답할 수 없는 질문은 SQL 없이 돌려보내고, 나머지는 검증할 SQL 한 개로 정리함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29184"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입력 데이터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수행 작업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 데이터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</a:tr>
              <a:tr h="278892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route, fixed_query_id, generated_sql, used_views, reason, plan_source, attempt(모두 S-R2)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 남은 시간 예산 확인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 route 값 확인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 fixed: fixed_query_id가 FQ-01 ~ FQ-14에 있으면 그 SQL을 후보로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 nl2sql: SQL이 비어 있지 않고 used_views가 허용 뷰 안이면 후보로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 unanswerable: S-R6로 보냄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6. 경로와 값이 어긋나면 plan_issues에 적어 S-R4에서 실패 처리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decision(str, 필수, to_validate 또는 unanswerable)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candidate_sql(str, 선택)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plan_issues(list, 필수)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route(str, 필수)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fixed_query_id(str, 선택)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unanswerable_reason(str, 선택)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attempt(int, 필수)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329184"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예외 처리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658368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남은 시간 예산 미달 → BUDGET_EXCEEDED(504)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"답할 수 없음"은 오류가 아니라 정상 응답(status unanswerable)임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단계별 명세: S-R4 SQL 검증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LLM이 만든 SQL은 허용 범위를 검사하기 전에는 절대 실행하지 않음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2270760"/>
                <a:gridCol w="2270760"/>
                <a:gridCol w="2270760"/>
                <a:gridCol w="2270760"/>
                <a:gridCol w="2270760"/>
                <a:gridCol w="22707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이전 단계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담당자 유형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외부시스템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S-R4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SQL 검증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S-R3 계획 적합성 판정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규칙기반 코드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없음(시스템 내부 DB)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비즈니스 목표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허용된 뷰와 구문만 쓰는 읽기 SQL만 실행 단계로 넘겨 데이터 유출과 DB 부하를 막음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29184"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입력 데이터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수행 작업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 데이터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</a:tr>
              <a:tr h="278892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candidate_sql(str, 선택, S-R3)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plan_issues(list, 필수, S-R3)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route, fixed_query_id, attempt(S-R3)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 남은 시간 예산 확인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 plan_issues가 있으면 실패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 구문 분석으로 SELECT 1문장인지 확인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 금지 구문, 주석, 여러 문장 확인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 뷰, 컬럼, 함수가 허용 목록 안인지 확인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6. LIMIT을 201(상한 200 + 잘림 확인 1)로 강제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7. 읽기 전용 트랜잭션에서 EXPLAIN으로 문법과 권한 확인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validated_sql(str, 선택)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row_limit(int, 필수, 200)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validation_errors(list, 필수)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previous_sql(str, 선택)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attempt(int, 필수, 되돌아갈 때 2)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route, fixed_query_id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329184"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예외 처리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658368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실패 1회차 → S-R2로 되돌아감(L-1)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실패 2회차 → SQL_VALIDATION_FAILED(422) 오류 종료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실패 사유는 LLM에만 돌려주는 내부 정보. 호출자 오류 메시지에 SQL, 뷰 이름을 넣지 않음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단계별 명세: S-R5 SQL 실행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세션 변수로 회원 범위를 정한 읽기 전용 트랜잭션에서, 남은 시간 안에서만 SQL을 실행함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2270760"/>
                <a:gridCol w="2270760"/>
                <a:gridCol w="2270760"/>
                <a:gridCol w="2270760"/>
                <a:gridCol w="2270760"/>
                <a:gridCol w="22707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이전 단계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담당자 유형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외부시스템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S-R5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SQL 실행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S-R4 SQL 검증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규칙기반 코드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없음(시스템 내부 DB)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비즈니스 목표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검증된 SQL을 이 회원의 데이터 범위 안에서만 실행해 답의 근거 데이터를 얻음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29184"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입력 데이터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수행 작업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 데이터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</a:tr>
              <a:tr h="278892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validated_sql, row_limit, route, fixed_query_id(S-R4)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member_id, base_date, coverage_start(S-R1)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 남은 시간 예산 측정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 sql_retriever_user로 연결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 BEGIN READ ONLY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 set_config로 app.member_id, app.base_date, app.coverage_start 지정(트랜잭션 한정)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 SET LOCAL statement_timeout = min(남은 시간 예산, 5초)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6. SQL 실행, 201행째가 있으면 잘림 표시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7. ROLLBACK으로 끝내 세션 변수 정리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columns(list, 필수, 컬럼명과 타입)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rows(list, 필수, 최대 200행)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row_count(int, 필수)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truncated(bool, 필수)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db_elapsed_ms(int, 필수)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route, fixed_query_id(전달)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329184"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예외 처리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658368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문장 시간 초과(57014) → SQL_TIMEOUT(504)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 밖의 DB 오류 → SQL_EXECUTION_FAILED(500)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접속 실패 → DB_UNAVAILABLE(503)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0행은 정상 결과. 결과 행은 LLM에 보내지 않음. 문장 상한 5초는 설계 가정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단계별 명세: S-R6 응답 구성과 반환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정상, 답할 수 없음 두 경우를 같은 응답 형식으로 돌려줘 호출자가 한 가지 방식으로 처리함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2270760"/>
                <a:gridCol w="2270760"/>
                <a:gridCol w="2270760"/>
                <a:gridCol w="2270760"/>
                <a:gridCol w="2270760"/>
                <a:gridCol w="22707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이전 단계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담당자 유형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외부시스템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S-R6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응답 구성과 반환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S-R5 SQL 실행, S-R3 계획 적합성 판정(답할 수 없음 경로)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규칙기반 코드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비즈니스 목표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결과와 근거(경로, 기간, 잘림 여부)를 한 형식으로 돌려줘 호출자가 답변을 바로 만들게 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29184"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입력 데이터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수행 작업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 데이터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</a:tr>
              <a:tr h="278892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columns, rows, row_count, truncated, route, fixed_query_id(S-R5)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decision, unanswerable_reason(S-R3)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request_id, base_date, coverage_start, started_at(S-R1)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 status 결정(ok 또는 unanswerable)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 응답 JSON 조립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 elapsed_ms 계산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 감사 로그 기록(가린 질문, 경로, SQL 해시, 행 수, 소요 시간. 회원ID는 해시)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 반환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request_id(str)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status(str)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route(str)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fixed_query_id(str, 선택)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period(obj, base_date와 coverage_start)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columns, rows(list)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row_count(int)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truncated(bool)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message(str)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elapsed_ms(int)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329184"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예외 처리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658368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조립 실패 → INTERNAL_ERROR(500)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종료 처리 시간 1초 안에서 수행. 응답에 SQL을 넣지 않음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외부시스템 연동 명세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바깥으로 나가는 연동은 Groq LLM 하나뿐이며, 최악값은 12초임</a:t>
            </a:r>
            <a:endParaRPr lang="en-US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80160"/>
                <a:gridCol w="1005840"/>
                <a:gridCol w="1005840"/>
                <a:gridCol w="1005840"/>
                <a:gridCol w="822960"/>
                <a:gridCol w="2194560"/>
                <a:gridCol w="5394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외부시스템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연동 유형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커넥터ID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타임아웃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재시도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최악값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초과 시 처리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S-R2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Groq LLM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C-01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12초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 × (1 + 0) = 12초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대체 경로로 계속(정형쿼리 키워드 매칭), 일치 없으면 안전 종료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9321" y="2880360"/>
            <a:ext cx="4358640" cy="457200"/>
          </a:xfrm>
          <a:prstGeom prst="roundRect">
            <a:avLst>
              <a:gd name="adj" fmla="val 12000"/>
            </a:avLst>
          </a:prstGeom>
          <a:solidFill>
            <a:srgbClr val="404155"/>
          </a:solidFill>
          <a:ln/>
        </p:spPr>
      </p:sp>
      <p:sp>
        <p:nvSpPr>
          <p:cNvPr id="6" name="Text 3"/>
          <p:cNvSpPr/>
          <p:nvPr/>
        </p:nvSpPr>
        <p:spPr>
          <a:xfrm>
            <a:off x="509321" y="2880360"/>
            <a:ext cx="435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부분결과로 계속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09321" y="3383280"/>
            <a:ext cx="4358640" cy="182880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6481" y="3474720"/>
            <a:ext cx="408432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안 됨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경로와 SQL이 없으면 낼 결과가 없음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142281" y="2880360"/>
            <a:ext cx="435864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</p:sp>
      <p:sp>
        <p:nvSpPr>
          <p:cNvPr id="10" name="Text 7"/>
          <p:cNvSpPr/>
          <p:nvPr/>
        </p:nvSpPr>
        <p:spPr>
          <a:xfrm>
            <a:off x="5142281" y="2880360"/>
            <a:ext cx="435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대체 경로로 계속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142281" y="3383280"/>
            <a:ext cx="4358640" cy="182880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79441" y="3474720"/>
            <a:ext cx="408432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채택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정형쿼리 14개의 키워드 표로 규칙 매칭하면 LLM 없이도 자주 묻는 질문은 답함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775241" y="2880360"/>
            <a:ext cx="435864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</p:sp>
      <p:sp>
        <p:nvSpPr>
          <p:cNvPr id="14" name="Text 11"/>
          <p:cNvSpPr/>
          <p:nvPr/>
        </p:nvSpPr>
        <p:spPr>
          <a:xfrm>
            <a:off x="9775241" y="2880360"/>
            <a:ext cx="435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안전 종료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9775241" y="3383280"/>
            <a:ext cx="4358640" cy="182880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912401" y="3474720"/>
            <a:ext cx="408432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키워드가 맞지 않을 때만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LLM_UNAVAILABLE(503) "잠시 후 다시 시도해 주세요"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09321" y="5440680"/>
            <a:ext cx="64008" cy="109728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18" name="Text 15"/>
          <p:cNvSpPr/>
          <p:nvPr/>
        </p:nvSpPr>
        <p:spPr>
          <a:xfrm>
            <a:off x="646481" y="5440680"/>
            <a:ext cx="134874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이유: 타임아웃 12초는 최대 출력 5000토큰 ÷ 약 500토큰/초 ≈ 10초에 여유 2초를 더한 설계 가정. 재시도 0회는 다시 만들기(L-1)와 합쳐 30초를 넘지 않게 하려는 사용자 결정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09321" y="6720840"/>
            <a:ext cx="1362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DB는 시스템 내부 구성요소라 이 표에 넣지 않음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Groq Models, Reasoning 문서(2026-10-15 조사), work/decisions.json D-05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반복 구간 명세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SQL 검증에 실패하면 실패 사유를 LLM에 주고 한 번만 다시 만듦</a:t>
            </a:r>
            <a:endParaRPr lang="en-US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743200"/>
                <a:gridCol w="1371600"/>
                <a:gridCol w="822960"/>
                <a:gridCol w="3017520"/>
                <a:gridCol w="43891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반복구간ID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비즈니스 목표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재시도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최악값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착지 단계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L-1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검증을 통과할 때까지 SQL을 다시 만듦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S-R2 ~ S-R4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(12 + 0 + 0) × (1 + 1) = 24초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안전 종료(SQL_VALIDATION_FAILED 422)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9321" y="3154680"/>
            <a:ext cx="667512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</p:sp>
      <p:sp>
        <p:nvSpPr>
          <p:cNvPr id="6" name="Text 3"/>
          <p:cNvSpPr/>
          <p:nvPr/>
        </p:nvSpPr>
        <p:spPr>
          <a:xfrm>
            <a:off x="509321" y="31546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최악값 계산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09321" y="3703320"/>
            <a:ext cx="6675120" cy="3017520"/>
          </a:xfrm>
          <a:prstGeom prst="roundRect">
            <a:avLst>
              <a:gd name="adj" fmla="val 303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6481" y="3840480"/>
            <a:ext cx="6400800" cy="2743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7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S-R2 단계 최악값 12초(C-01 타임아웃 12초 × (1 + 0))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7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S-R3, S-R4는 외부 연동 없음 → 0초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700" b="1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구간 최악값 = (12 + 0 + 0) × (1 + 1) = 24초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458761" y="3154680"/>
            <a:ext cx="667512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</p:sp>
      <p:sp>
        <p:nvSpPr>
          <p:cNvPr id="10" name="Text 7"/>
          <p:cNvSpPr/>
          <p:nvPr/>
        </p:nvSpPr>
        <p:spPr>
          <a:xfrm>
            <a:off x="7458761" y="31546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착지 단계 판단 이유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458761" y="3703320"/>
            <a:ext cx="6675120" cy="3017520"/>
          </a:xfrm>
          <a:prstGeom prst="roundRect">
            <a:avLst>
              <a:gd name="adj" fmla="val 303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95921" y="3840480"/>
            <a:ext cx="6400800" cy="2743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7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부분결과: 없음(실행할 SQL이 없음)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7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대체 경로(키워드 매칭): LLM이 이미 nl2sql로 판단한 질문이라 맞지 않는 정형쿼리를 고를 위험이 있어 쓰지 않음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700" b="1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결론: 안전 종료(SQL_VALIDATION_FAILED 422)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설계 가이드 1-4, work/decisions.json D-08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워크플로우 명세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최악값 합계 24초로 전체 시간 예산 30초 안에 들고, 남는 5초는 DB와 규칙 처리 몫임</a:t>
            </a:r>
            <a:endParaRPr lang="en-US" sz="1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74980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669280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워크플로우ID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W-1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SQL 검색기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비즈니스 목표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상담사가 고객 데이터를 직접 찾지 않고 질문 한 줄로 근거 데이터를 받게 함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전체 시간 예산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30초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종료 처리 시간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1초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최악값 합계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S-R1 0초 + L-1 24초 + S-R5 0초 + S-R6 0초 = 24초 (≤ 30초)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재개 방안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해당없음(조회만 하고 바깥에 반영하는 작업이 없음)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81721" y="1737360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</p:sp>
      <p:sp>
        <p:nvSpPr>
          <p:cNvPr id="6" name="Text 3"/>
          <p:cNvSpPr/>
          <p:nvPr/>
        </p:nvSpPr>
        <p:spPr>
          <a:xfrm>
            <a:off x="8281721" y="17373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최악값 합계 계산과 예산 대조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281721" y="2286000"/>
            <a:ext cx="5852160" cy="4892040"/>
          </a:xfrm>
          <a:prstGeom prst="roundRect">
            <a:avLst>
              <a:gd name="adj" fmla="val 1869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8881" y="2377440"/>
            <a:ext cx="5577840" cy="4709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 비교: SQL 실행 경로(S-R3 → S-R4 → S-R5 → S-R6)가 답할 수 없음 경로(S-R3 → S-R6)보다 길어 이 경로를 더함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구간 단계(S-R2 ~ S-R4)는 따로 더하지 않고 L-1 24초로 한 번만 더함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b="1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 대조: 24초 ≤ 30초 → 통과. 조정 없음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여유: 30 - 24 - 1(종료 처리) = 5초 → DB 조회(S-R1 회원 확인, S-R4 EXPLAIN, S-R5 실행)와 규칙 처리 몫. 개발 후 실측으로 확인할 항목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설계 가이드 1-5, work/decisions.json D-02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커넥터 설계: 커넥터 목록과 LLM 명세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커넥터는 Groq LLM 하나이며, 접속 주소와 설정값은 모두 Groq 공식 문서 조사값임</a:t>
            </a:r>
            <a:endParaRPr lang="en-US" sz="1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486400"/>
                <a:gridCol w="2743200"/>
                <a:gridCol w="4023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커넥터명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연동 방식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제공자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C-01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NL2SQL 계획 생성 LLM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Groq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9321" y="2542032"/>
            <a:ext cx="1362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DB(PostgreSQL cardlab)는 시스템 내부 구성요소로 취급해 커넥터 목록에서 제외함(사용자 결정)</a:t>
            </a:r>
            <a:endParaRPr lang="en-US" sz="15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2971800"/>
          <a:ext cx="136245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6128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 (C-01 LLM)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커넥터 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C-01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접속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베이스 URL https://api.groq.com/openai/v1, POST /chat/completions, Authorization: Bearer + 환경변수 GROQ_API_KEY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모델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openai/gpt-oss-120b(Production, 컨텍스트 131,072, 최대 출력 65,536)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하이퍼파라미터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temperature 0.1(범위 0 ~ 2) / top_p 1(기본) / reasoning_effort high(low, medium, high) / reasoning_format hidden / max_completion_tokens 5000 / seed 42 / n 1 / stream false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구조화 출력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response_format json_schema, strict true(모든 필드 required, additionalProperties false)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호출 제한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SDK timeout=12, max_retries=0(기본 60초, 2회를 끔). 요청 한도는 확인 필요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실행 설정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제공자와 모델을 환경변수로 1개 선택하는 구조(현재 후보 1개)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console.groq.com/docs (openai, models, api-reference, reasoning, structured-outputs), context7 groq-python, 2026-10-15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커넥터 설계: 시스템 프롬프트와 유저 프롬프트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시스템 프롬프트는 프롬프트 가이드 8섹션으로 쓰고, 전문은 스크립트 부록에 둠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731520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</p:sp>
      <p:sp>
        <p:nvSpPr>
          <p:cNvPr id="5" name="Text 3"/>
          <p:cNvSpPr/>
          <p:nvPr/>
        </p:nvSpPr>
        <p:spPr>
          <a:xfrm>
            <a:off x="509321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프롬프트(섹션별 요약)</a:t>
            </a:r>
            <a:endParaRPr lang="en-US" sz="2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2286000"/>
          <a:ext cx="7315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943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섹션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요약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[목표]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질문에 맞는 조회 경로를 고르고, 필요할 때만 허용 뷰로 읽기 SQL 1개를 만듦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[역할]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카드사 상담 데이터에 익숙한 PostgreSQL NL2SQL 전문가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[맥락]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회원 범위와 기간은 DB가 세션 변수로 이미 걸러 둠. SQL에 회원 조건을 쓰지 않음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[입력]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가린 질문, 기준일, 거래 제공 시작일, 정형쿼리 목록, 허용 뷰와 컬럼, 검증 실패 사유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[처리]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정형쿼리 우선 → 없으면 SQL 생성 → 데이터로 답할 수 없으면 unanswerable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[출력]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JSON 5개 필드(route, fixed_query_id, sql, used_views, reason)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[제약조건]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SELECT 1문장, 허용 뷰와 함수만, LIMIT 200 이하, 개인정보 추측 금지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[예시]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질문 3개에 대한 fixed, nl2sql, unanswerable 응답 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098841" y="1737360"/>
            <a:ext cx="603504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</p:sp>
      <p:sp>
        <p:nvSpPr>
          <p:cNvPr id="8" name="Text 5"/>
          <p:cNvSpPr/>
          <p:nvPr/>
        </p:nvSpPr>
        <p:spPr>
          <a:xfrm>
            <a:off x="8098841" y="17373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유저 프롬프트 변수</a:t>
            </a:r>
            <a:endParaRPr lang="en-US" sz="20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98841" y="2286000"/>
          <a:ext cx="603504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685800"/>
                <a:gridCol w="685800"/>
                <a:gridCol w="251460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변수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타입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설명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masked_question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str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개인 식별자를 가린 질문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base_date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date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조회 기준일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coverage_start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date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거래 제공 시작일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fixed_query_catalog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list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정형쿼리 ID, 이름, 설명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view_catalog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list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허용 뷰, 컬럼, 타입, 설명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row_limit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 행 상한 200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validation_feedback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다시 만들 때 실패 사유와 이전 SQL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커넥터 설계: 응답 데이터 구조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응답은 JSON 스키마 엄격 모드로 받아, 형식이 틀린 답이 다음 단계로 가지 않게 함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404155"/>
          </a:solidFill>
          <a:ln/>
        </p:spPr>
      </p:sp>
      <p:sp>
        <p:nvSpPr>
          <p:cNvPr id="5" name="Text 3"/>
          <p:cNvSpPr/>
          <p:nvPr/>
        </p:nvSpPr>
        <p:spPr>
          <a:xfrm>
            <a:off x="509321" y="1737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C-01 응답 필드</a:t>
            </a:r>
            <a:endParaRPr lang="en-US" sz="1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219456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448056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타입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route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string(enum)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fixed, nl2sql, unanswerable 중 하나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fixed_query_id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string 또는 null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fixed일 때 FQ-01 ~ FQ-14, 그 밖에는 null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sql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string 또는 null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nl2sql일 때 SELECT 1문장, 그 밖에는 null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used_views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array(enum)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SQL이나 정형쿼리가 읽는 app 뷰 이름 목록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reason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string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경로를 고른 근거 한 문장(가린 질문 기준)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9196121" y="1737360"/>
            <a:ext cx="4937760" cy="5120640"/>
          </a:xfrm>
          <a:prstGeom prst="roundRect">
            <a:avLst>
              <a:gd name="adj" fmla="val 1852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379001" y="196596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9" name="Text 6"/>
          <p:cNvSpPr/>
          <p:nvPr/>
        </p:nvSpPr>
        <p:spPr>
          <a:xfrm>
            <a:off x="9379001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881921" y="1901952"/>
            <a:ext cx="411480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필드 required, additionalProperties: false(strict 모드 요구 사항)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379001" y="315468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12" name="Text 9"/>
          <p:cNvSpPr/>
          <p:nvPr/>
        </p:nvSpPr>
        <p:spPr>
          <a:xfrm>
            <a:off x="9379001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881921" y="3090672"/>
            <a:ext cx="411480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 값은 ["string", "null"] 합 타입으로 표현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379001" y="434340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15" name="Text 12"/>
          <p:cNvSpPr/>
          <p:nvPr/>
        </p:nvSpPr>
        <p:spPr>
          <a:xfrm>
            <a:off x="9379001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881921" y="4279392"/>
            <a:ext cx="411480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스키마가 맞아도 내용 판정은 S-R3, S-R4가 다시 함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379001" y="553212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18" name="Text 15"/>
          <p:cNvSpPr/>
          <p:nvPr/>
        </p:nvSpPr>
        <p:spPr>
          <a:xfrm>
            <a:off x="9379001" y="5532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881921" y="5468112"/>
            <a:ext cx="411480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 메타데이터의 토큰 사용량은 감사 로그에 남김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console.groq.com/docs/structured-outputs (2026-10-15 조사)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남은 시간 예산 정책: 측정과 계산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각 단계 시작 직전에 실제로 흐른 시간을 재고, 남은 시간 예산이 1.5초 이상일 때만 시작함</a:t>
            </a:r>
            <a:endParaRPr lang="en-US" sz="1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76809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4864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계산식 또는 값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측정 시점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S-R1 ~ S-R5 각 단계 시작 직전(S-R6는 종료 처리 시간으로 확보)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남은 시간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30 - 기존 사용 시간 - 1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남은 시간 예산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남은 시간 - SUM(앞으로 남은 단계의 외부 연동 최악값)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남은 외부 연동 최악값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S-R2 전: 12초(반복 구간이라도 1회분) / S-R3 이후: 0초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시작 기준 시간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 × 5% = 1.5초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DB 문장 제한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statement_timeout = min(남은 시간 예산, 5초)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464601" y="1737360"/>
            <a:ext cx="566928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</p:sp>
      <p:sp>
        <p:nvSpPr>
          <p:cNvPr id="6" name="Text 3"/>
          <p:cNvSpPr/>
          <p:nvPr/>
        </p:nvSpPr>
        <p:spPr>
          <a:xfrm>
            <a:off x="8464601" y="17373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 예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464601" y="228600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01761" y="2331720"/>
            <a:ext cx="539496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 1  S-R2 2회차 시작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13초 → 남은 시간 30 - 13 - 1 = 16초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남은 시간 예산 16 - 12 = 4초 ≥ 1.5초 → 시작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464601" y="3858768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01761" y="3904488"/>
            <a:ext cx="539496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 2  S-R2 2회차 시작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16초 → 남은 시간 30 - 16 - 1 = 13초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남은 시간 예산 13 - 12 = 1초 &lt; 1.5초 → 착지(안전 종료)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464601" y="5431536"/>
            <a:ext cx="5669280" cy="1783080"/>
          </a:xfrm>
          <a:prstGeom prst="roundRect">
            <a:avLst>
              <a:gd name="adj" fmla="val 5128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01761" y="5477256"/>
            <a:ext cx="5394960" cy="1691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 3  S-R5 시작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26초 → 남은 시간 30 - 26 - 1 = 3초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남은 시간 예산 3 - 0 = 3초 ≥ 1.5초 → 시작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statement_timeout = min(3초, 5초) = 3초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설계 가이드 2-1 ~ 2-3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남은 시간 예산 정책: 기준 미달 시 착지 단계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기준에 못 미치면 부분결과 → 대체 경로 → 안전 종료 순서로 검토해 단계마다 착지 단계를 정함</a:t>
            </a:r>
            <a:endParaRPr lang="en-US" sz="1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486400"/>
                <a:gridCol w="6492240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 미달 시 착지 단계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판단 이유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안전 종료(BUDGET_EXCEEDED 504)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시작 직후라 실제로는 생기지 않음. 규칙상 같은 처리를 둠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S-R2 1회차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대체 경로(키워드 매칭) → 일치 없으면 안전 종료(BUDGET_EXCEEDED)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 없이도 자주 묻는 질문은 답할 수 있음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S-R2 2회차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안전 종료(SQL_VALIDATION_FAILED 422)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앞 검증 실패를 그대로 알림. L-1 착지와 같음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S-R3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안전 종료(BUDGET_EXCEEDED)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남은 단계에 DB 실행이 있어 시간 확보가 안 되면 결과를 못 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S-R4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안전 종료(BUDGET_EXCEEDED)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검증 없이 실행하는 대체 경로는 원칙상 금지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S-R5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안전 종료(BUDGET_EXCEEDED)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부분결과 없음. 실행 도중 초과는 SQL_TIMEOUT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S-R6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해당없음(종료 처리 시간 1초로 확보)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응답 조립은 항상 수행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부록 A: 논리 뷰 목록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NL2SQL 실행 계정이 읽을 수 있는 뷰는 14개이며, LLM에는 app 스키마 12개만 보여 줌(기본 7개와 3조 추가 5개)</a:t>
            </a:r>
            <a:endParaRPr lang="en-US" sz="1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00584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834640"/>
                <a:gridCol w="2377440"/>
                <a:gridCol w="16459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담는 내용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컬럼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 노출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app.customer_profile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회원 가입일과 연령대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join_date, age_band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app.customer_cards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기준일 현재 보유 카드, 상품, 연회비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card_ref, product_name, brand, annual_fee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app.monthly_usage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최근 6개월 카드별 월 승인 이용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card_ref, month, approved_amount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app.customer_delinquency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최근 마감 월 연체 1건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base_month, overdue_amount, overdue_days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app.customer_delinquency_history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최근 12개월 연체 이력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base_month, overdue_amount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app.customer_daily_usage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최근 90일 일별 승인 이용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usage_date, approved_amount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app.merchant_usage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최근 6개월 가맹점과 업종별 이용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merchant_name, category, approved_amount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app_internal.customer_cards_full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원본 카드ID 포함 조립용 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card_id, card_ref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아니오(서비스 코드 전용)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app_internal.member_basic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회원 존재와 가입일 확인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member_id, join_date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아니오(S-R1 전용)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842041" y="1737360"/>
            <a:ext cx="3291840" cy="5440680"/>
          </a:xfrm>
          <a:prstGeom prst="roundRect">
            <a:avLst>
              <a:gd name="adj" fmla="val 2778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9201" y="1828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요약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933481" y="2286000"/>
            <a:ext cx="3108960" cy="4754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RLS: member, card, card_txn, delinquency 테이블에 회원 격리 정책(app.member_id)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세션 변수 3개(app.member_id, app.base_date, app.coverage_start)를 지정하지 않으면 0행(기본 거부)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원본 테이블 중 sql_retriever_user가 읽는 것은 public.lab_metadata 하나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rdb/init/04 ~ 06 SQL, work/db_catalog.json(2026-10-15 실측). 3조 추가 뷰 5개는 다음 장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부록 A(계속): 3조 추가 논리 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VIP 이탈 신호(사용 감소, 연회비 부담, 최근 활동, 주 사용 업종)를 보는 뷰 5개를 더함. 기존 뷰와 RLS는 고치지 않음</a:t>
            </a:r>
            <a:endParaRPr lang="en-US" sz="1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00584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834640"/>
                <a:gridCol w="2377440"/>
                <a:gridCol w="164592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담는 내용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컬럼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 노출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app.vip_monthly_trend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최근 6개월 월 사용액과 전월 대비 증감, 부분 월 표시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month, approved_amount, change_rate_pct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app.vip_annual_fee_burden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카드별 연회비와 연 환산 사용액 대비 연회비 배수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card_ref, annual_fee, yearly_usage_to_fee_ratio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app.vip_activity_signal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마지막 승인일과 최근 30일, 이전 30일 비교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last_approved_date, days_since_last_approved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app.vip_category_share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업종별 사용액 비중과 순위(1위가 주 사용 업종)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category, share_pct, amount_rank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app.vip_churn_signal_summary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최근 3개월 사용액 변화율과 최근 활동을 1행으로 요약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change_rate_pct, days_since_last_approved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842041" y="1737360"/>
            <a:ext cx="3291840" cy="5440680"/>
          </a:xfrm>
          <a:prstGeom prst="roundRect">
            <a:avLst>
              <a:gd name="adj" fmla="val 2778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9201" y="1828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 방식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933481" y="2286000"/>
            <a:ext cx="3108960" cy="4754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 조건 없이 RLS와 세션 변수 3개로 회원과 기간을 가름(기존 뷰와 같은 방식)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뷰 소유자 app_reader, 서비스 계정 sql_retriever_user는 뷰 조회 권한만 받음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신호 기준(전월 대비, 연 환산 배수, 최근 30일 비교)은 설계 가정이며 상담 현장 기준으로 확인할 값임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rdb/init/07_vip_churn_views.sql (DB 미실행, SQL을 읽어 검토함)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부록 B: 정형쿼리 목록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정형쿼리 14개 중 FQ-01 ~ FQ-09는 EXPLAIN을 통과함. FQ-10 ~ FQ-14(3조 추가)는 DB 미실행으로 확인 전임</a:t>
            </a:r>
            <a:endParaRPr lang="en-US" sz="1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474720"/>
                <a:gridCol w="2926080"/>
                <a:gridCol w="57607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고정 조회ID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 단위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SQL 요지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FQ-01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고객 기본정보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고객 1행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customer_profile 전체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FQ-02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보유 카드 목록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 1장당 1행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customer_cards, card_ref 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FQ-03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카드별 월 이용금액(6개월)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카드와 월 1쌍당 1행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monthly_usage, 월과 카드 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FQ-04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월별 이용금액 합계(6개월)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1개당 1행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monthly_usage를 월로 합계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FQ-05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최근 연체 현황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0행 또는 1행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customer_delinquency 전체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FQ-06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연체 이력(12개월)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1개당 1행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customer_delinquency_history, 월 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FQ-07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일별 이용금액(90일)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날짜 1일당 1행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customer_daily_usage, 날짜 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FQ-08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업종별 이용금액(6개월)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업종 1개당 1행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merchant_usage를 업종으로 합계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FQ-09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가맹점 이용 상위 10곳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가맹점 1곳당 1행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merchant_usage를 가맹점으로 합계, 상위 10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9321" y="6903720"/>
            <a:ext cx="1362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SQL은 work/fixed_queries.json, 확인 로그는 work/explain_fixed_queries.log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work/explain_fixed_queries.log (sql_retriever_user, FQ-01 ~ FQ-09 9/9 통과). FQ-10 ~ FQ-14는 다음 장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부록 B(계속): 3조 추가 정형쿼리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VIP 이탈 신호를 묻는 질문에 쓰는 정형쿼리 5개를 더함. EXPLAIN은 DB 미실행으로 확인 전임</a:t>
            </a:r>
            <a:endParaRPr lang="en-US" sz="1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474720"/>
                <a:gridCol w="2926080"/>
                <a:gridCol w="576072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고정 조회ID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 단위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SQL 요지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FQ-10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사용액 추이와 전월 대비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1개당 1행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vip_monthly_trend, 월 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FQ-11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연회비 대비 사용액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 1장당 1행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vip_annual_fee_burden, card_ref 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FQ-12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최근 활동 신호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고객 1행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vip_activity_signal 전체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FQ-13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업종별 사용액 비중과 순위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업종 1개당 1행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vip_category_share, 순위 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FQ-14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이탈 신호 종합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고객 1행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vip_churn_signal_summary 전체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9321" y="6492240"/>
            <a:ext cx="1362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SQL은 work/fixed_queries.json. 이 5개의 explain 값은 미실행으로 적어 둠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work/fixed_queries.json (3조 추가, 2026-10-19)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부록 C: SQL 검증 규칙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허용 목록에 있는 것만 통과시키는 방식(기본 거부)으로 SQL을 검사함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667512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</p:sp>
      <p:sp>
        <p:nvSpPr>
          <p:cNvPr id="5" name="Text 3"/>
          <p:cNvSpPr/>
          <p:nvPr/>
        </p:nvSpPr>
        <p:spPr>
          <a:xfrm>
            <a:off x="509321" y="17373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9321" y="2286000"/>
            <a:ext cx="6675120" cy="4023360"/>
          </a:xfrm>
          <a:prstGeom prst="roundRect">
            <a:avLst>
              <a:gd name="adj" fmla="val 2273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0761" y="2377440"/>
            <a:ext cx="6492240" cy="3840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 뷰: app 스키마 뷰 12개와 그 컬럼 전부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 구문: SELECT 1문장, WITH, WHERE, JOIN(허용 뷰끼리), GROUP BY, HAVING, ORDER BY, LIMIT, CASE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 함수: sum, count, avg, min, max, date_trunc, to_char, extract, coalesce, round, greatest, least, abs, nullif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행 상한: 200(검증 단계에서 LIMIT 201로 강제, 201행째는 잘림 표시에만 씀)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58761" y="1737360"/>
            <a:ext cx="667512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</p:sp>
      <p:sp>
        <p:nvSpPr>
          <p:cNvPr id="9" name="Text 7"/>
          <p:cNvSpPr/>
          <p:nvPr/>
        </p:nvSpPr>
        <p:spPr>
          <a:xfrm>
            <a:off x="7458761" y="17373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금지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458761" y="2286000"/>
            <a:ext cx="6675120" cy="4023360"/>
          </a:xfrm>
          <a:prstGeom prst="roundRect">
            <a:avLst>
              <a:gd name="adj" fmla="val 2273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50201" y="2377440"/>
            <a:ext cx="6492240" cy="3840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쓰기와 정의 구문: INSERT, UPDATE, DELETE, MERGE, CREATE, ALTER, DROP, TRUNCATE, GRANT, REVOKE, COPY, SET, CALL, DO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문장(세미콜론), 주석(--, /* */), SELECT INTO, FOR UPDATE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스키마: app_internal, public, private, pg_catalog, information_schema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함수: set_config, current_setting, pg_sleep, generate_series, 허용 목록 밖의 모든 함수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9321" y="6492240"/>
            <a:ext cx="64008" cy="64008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13" name="Text 11"/>
          <p:cNvSpPr/>
          <p:nvPr/>
        </p:nvSpPr>
        <p:spPr>
          <a:xfrm>
            <a:off x="646481" y="6492240"/>
            <a:ext cx="13487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검증을 통과해도 실행은 읽기 전용 트랜잭션과 RLS 안에서만 함(이중 방어)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부록 D: 필드 영문명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호출자와 주고받는 필드 이름을 하나로 고정해 구현과 시험이 같은 이름을 쓰게 함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404155"/>
          </a:solidFill>
          <a:ln/>
        </p:spPr>
      </p:sp>
      <p:sp>
        <p:nvSpPr>
          <p:cNvPr id="5" name="Text 3"/>
          <p:cNvSpPr/>
          <p:nvPr/>
        </p:nvSpPr>
        <p:spPr>
          <a:xfrm>
            <a:off x="509321" y="1737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 필드</a:t>
            </a:r>
            <a:endParaRPr lang="en-US" sz="15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2194560"/>
          <a:ext cx="5486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10972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영문명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한글명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타입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request_id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요청 추적 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str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member_id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회원ID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str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question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상담사 질문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str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base_date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조회 기준일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date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270041" y="173736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404155"/>
          </a:solidFill>
          <a:ln/>
        </p:spPr>
      </p:sp>
      <p:sp>
        <p:nvSpPr>
          <p:cNvPr id="8" name="Text 5"/>
          <p:cNvSpPr/>
          <p:nvPr/>
        </p:nvSpPr>
        <p:spPr>
          <a:xfrm>
            <a:off x="6270041" y="1737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 필드</a:t>
            </a:r>
            <a:endParaRPr lang="en-US" sz="1500" dirty="0"/>
          </a:p>
        </p:txBody>
      </p:sp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0041" y="2194560"/>
          <a:ext cx="78638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84048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영문명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한글명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타입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request_id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요청 추적 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str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status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처리 결과(ok, unanswerable, error)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str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route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조회 경로(fixed, nl2sql, none)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str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fixed_query_id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고정 조회ID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str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period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조회 기간(base_date, coverage_start)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columns / rows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컬럼 목록 / 결과 행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list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row_count / truncated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행 수 / 잘림 여부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int / bool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message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안내 문구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str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error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오류(code, message)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elapsed_ms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처리 시간(밀리초)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int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부록 E: 오류 응답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오류 메시지에는 SQL, DB 식별자, 접속 정보, 키를 넣지 않고 다음 행동만 안내함</a:t>
            </a:r>
            <a:endParaRPr lang="en-US" sz="1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188720"/>
                <a:gridCol w="2194560"/>
                <a:gridCol w="3657600"/>
                <a:gridCol w="38404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오류 코드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HTTP 상태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발생 단계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의미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호출자에게 돌려줄 메시지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INVALID_REQUEST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400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S-R1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필수 값 누락 또는 형식 오류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요청 값을 확인해 주세요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MEMBER_NOT_FOUND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404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S-R1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회원이 없거나 기준일에 가입 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조회할 수 있는 회원이 아닙니다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LLM_UNAVAILABLE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503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S-R2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 실패 + 키워드 매칭 실패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잠시 후 다시 시도해 주세요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SQL_VALIDATION_FAILED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422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S-R4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다시 만들기 후에도 검증 실패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질문을 더 구체적으로 바꿔 주세요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SQL_TIMEOUT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504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S-R5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실행 제한 시간 초과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조회 범위를 줄여 다시 시도해 주세요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SQL_EXECUTION_FAILED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500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S-R5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 밖의 실행 오류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조회 중 문제가 생겼습니다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DB_UNAVAILABLE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503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S-R1, S-R4, S-R5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DB 접속 실패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잠시 후 다시 시도해 주세요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BUDGET_EXCEEDED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504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S-R1 ~ S-R5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남은 시간 예산 미달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응답 시간이 초과되었습니다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INTERNAL_ERROR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500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모든 단계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예상하지 못한 오류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처리 중 문제가 생겼습니다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9321" y="6858000"/>
            <a:ext cx="1362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오류 응답 형식: request_id, status(error), error(code, message), elapsed_ms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부록 F: 설계 점검표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설계 가이드 5절 점검표와 이 설계서의 완료 기준을 모두 확인함</a:t>
            </a:r>
            <a:endParaRPr lang="en-US" sz="1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10424160"/>
                <a:gridCol w="32004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점검 항목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단계ID 접두어가 트리거 유형(S-R)과 맞음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입력 필드의 출처 단계가 그 필드를 실제로 출력함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통과(verify_calc.py)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외부시스템이 있는 단계는 ③에 행이 있음(S-R2 → C-01)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③의 커넥터ID가 커넥터 목록에 있음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연동 최악값 = 타임아웃 × (1 + 재시도)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통과(12초)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초과 시 처리와 착지 단계를 부분결과 → 대체 경로 → 안전 종료로 검토함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반복 구간 최악값 = 구간 합계 × (1 + 재시도)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통과(24초)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최악값 합계에서 분기는 가장 큰 경로만 더함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최악값 합계 ≤ 전체 시간 예산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통과(24초 ≤ 30초)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재개 방안이 해당없음 또는 단계별 결과 저장임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통과(해당없음)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 커넥터 필수 항목과 시스템 프롬프트 섹션 구조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이전 단계, 흐름 도식, Mermaid 연결이 서로 같음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통과(verify_calc.py)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부록 G: 설계 가정과 위험 항목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근거 없는 수치는 설계 가정으로 두고, 개발 후 실측으로 확인함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667512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</p:sp>
      <p:sp>
        <p:nvSpPr>
          <p:cNvPr id="5" name="Text 3"/>
          <p:cNvSpPr/>
          <p:nvPr/>
        </p:nvSpPr>
        <p:spPr>
          <a:xfrm>
            <a:off x="509321" y="17373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가정(실측 항목)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9321" y="2286000"/>
            <a:ext cx="6675120" cy="4937760"/>
          </a:xfrm>
          <a:prstGeom prst="roundRect">
            <a:avLst>
              <a:gd name="adj" fmla="val 1852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0761" y="2377440"/>
            <a:ext cx="6492240" cy="4754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LLM 타임아웃 12초(최대 출력 5000토큰을 약 500토큰/초로 나눈 값 + 여유)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DB 문장 상한 5초, DB와 규칙 처리 몫 5초(30 - 24 - 1)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시작 기준 비율 5%(1.5초)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회원ID 형식 M- + 숫자 4자리, txn_period 값에서 시작일을 꺼내는 방식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temperature 0.1에서 반복 출력이 없는지(Groq 권장 0.5 ~ 0.7)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 Groq 요청 한도(문서끼리 값이 달라 조직 한도 페이지 확인 필요)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7. 3조 이탈 신호 기준(전월 대비, 연 환산 배수, 최근 30일 비교)은 상담 현장 기준으로 확인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58761" y="1737360"/>
            <a:ext cx="667512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</p:sp>
      <p:sp>
        <p:nvSpPr>
          <p:cNvPr id="9" name="Text 7"/>
          <p:cNvSpPr/>
          <p:nvPr/>
        </p:nvSpPr>
        <p:spPr>
          <a:xfrm>
            <a:off x="7458761" y="17373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 항목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458761" y="2286000"/>
            <a:ext cx="6675120" cy="4937760"/>
          </a:xfrm>
          <a:prstGeom prst="roundRect">
            <a:avLst>
              <a:gd name="adj" fmla="val 1852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50201" y="2377440"/>
            <a:ext cx="6492240" cy="4754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DB 구조 읽기를 관리자 계정 cardlab으로 함(사용자 결정). 읽기 전용 세션, LIMIT 0과 EXPLAIN만 사용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원본 테이블 읽기: sql_retriever_user는 public.lab_metadata만 읽음(위험 낮음). cardlab은 전부 읽음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app_internal 뷰 2개도 실행 계정이 읽을 수 있음 → SQL 검증에서 스키마 금지로 막음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이름 같은 개인 식별자는 정규식으로 못 가림 → 외부 LLM 전송 위험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customer_daily_usage의 EXPLAIN 예상 비용이 큼 → 실행 시간 실측 필요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 3조 추가 뷰 5개와 FQ-10 ~ FQ-14는 DB 미실행 → 팀원 PC에서 EXPLAIN과 접근 권한 확인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검색기 워크플로우 설계서</dc:title>
  <dc:subject>PptxGenJS Presentation</dc:subject>
  <dc:creator>PptxGenJS</dc:creator>
  <cp:lastModifiedBy>PptxGenJS</cp:lastModifiedBy>
  <cp:revision>1</cp:revision>
  <dcterms:created xsi:type="dcterms:W3CDTF">2026-10-19T02:22:24Z</dcterms:created>
  <dcterms:modified xsi:type="dcterms:W3CDTF">2026-10-19T02:22:24Z</dcterms:modified>
</cp:coreProperties>
</file>